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4098aa1ca1b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4098aa1ca1b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4098aa1ca1b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4098aa1ca1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4098aa1ca1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 (15 seg)</a:t>
            </a:r>
            <a:br>
              <a:rPr lang="en-US"/>
            </a:br>
            <a:r>
              <a:rPr lang="en-US"/>
              <a:t>Y hasta aquí la presentación. He desarrollado una aplicación web completa desde el frontend hasta la base de datos, aplicando los conocimientos del ciclo y ampliándolos de forma autónoma. Quedo a disposición del tribunal para las preguntas. Muchas gracias.</a:t>
            </a:r>
            <a:endParaRPr/>
          </a:p>
        </p:txBody>
      </p:sp>
      <p:sp>
        <p:nvSpPr>
          <p:cNvPr id="477" name="Google Shape;477;g4098aa1ca1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00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0" y="2560320"/>
            <a:ext cx="4572000" cy="4572000"/>
          </a:xfrm>
          <a:prstGeom prst="ellipse">
            <a:avLst/>
          </a:prstGeom>
          <a:solidFill>
            <a:srgbClr val="8B0055">
              <a:alpha val="45098"/>
            </a:srgbClr>
          </a:solidFill>
          <a:ln cap="flat" cmpd="sng" w="12700">
            <a:solidFill>
              <a:srgbClr val="8B00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589520" y="1645920"/>
            <a:ext cx="2743200" cy="2743200"/>
          </a:xfrm>
          <a:prstGeom prst="ellipse">
            <a:avLst/>
          </a:prstGeom>
          <a:solidFill>
            <a:srgbClr val="D80A8C">
              <a:alpha val="34901"/>
            </a:srgbClr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73152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Makisá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1783080"/>
            <a:ext cx="6583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6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0C06E"/>
                </a:solidFill>
                <a:latin typeface="Calibri"/>
                <a:ea typeface="Calibri"/>
                <a:cs typeface="Calibri"/>
                <a:sym typeface="Calibri"/>
              </a:rPr>
              <a:t>Aplicación web corporativa para un emprendimiento artesanal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2359152"/>
            <a:ext cx="3840480" cy="36576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0080" y="251460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Alejandra Varona Gaviria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TFG DAM  ·  Colegio Sagrada Familia  ·  2025/2026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4206240"/>
            <a:ext cx="1298448" cy="365760"/>
          </a:xfrm>
          <a:prstGeom prst="roundRect">
            <a:avLst>
              <a:gd fmla="val 17500" name="adj"/>
            </a:avLst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0080" y="420624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057400" y="4206240"/>
            <a:ext cx="1298448" cy="365760"/>
          </a:xfrm>
          <a:prstGeom prst="roundRect">
            <a:avLst>
              <a:gd fmla="val 17500" name="adj"/>
            </a:avLst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057400" y="420624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474720" y="4206240"/>
            <a:ext cx="1298448" cy="365760"/>
          </a:xfrm>
          <a:prstGeom prst="roundRect">
            <a:avLst>
              <a:gd fmla="val 17500" name="adj"/>
            </a:avLst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474720" y="420624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892040" y="4206240"/>
            <a:ext cx="1298448" cy="365760"/>
          </a:xfrm>
          <a:prstGeom prst="roundRect">
            <a:avLst>
              <a:gd fmla="val 17500" name="adj"/>
            </a:avLst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892040" y="420624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309360" y="4206240"/>
            <a:ext cx="1298448" cy="365760"/>
          </a:xfrm>
          <a:prstGeom prst="roundRect">
            <a:avLst>
              <a:gd fmla="val 17500" name="adj"/>
            </a:avLst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309360" y="420624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726680" y="4206240"/>
            <a:ext cx="1298448" cy="365760"/>
          </a:xfrm>
          <a:prstGeom prst="roundRect">
            <a:avLst>
              <a:gd fmla="val 17500" name="adj"/>
            </a:avLst>
          </a:prstGeom>
          <a:solidFill>
            <a:srgbClr val="FFFFFF">
              <a:alpha val="20000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726680" y="4206240"/>
            <a:ext cx="12984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Netlify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Origen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1234440"/>
            <a:ext cx="8229600" cy="530352"/>
          </a:xfrm>
          <a:prstGeom prst="roundRect">
            <a:avLst>
              <a:gd fmla="val 17241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58368" y="1440180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77824" y="1289304"/>
            <a:ext cx="7635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Emprendimiento presente únicamente en Instagram.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1892808"/>
            <a:ext cx="8229600" cy="530352"/>
          </a:xfrm>
          <a:prstGeom prst="roundRect">
            <a:avLst>
              <a:gd fmla="val 17241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58368" y="2098548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77824" y="1947672"/>
            <a:ext cx="7635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Ausencia de una plataforma propia.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2551176"/>
            <a:ext cx="8229600" cy="530352"/>
          </a:xfrm>
          <a:prstGeom prst="roundRect">
            <a:avLst>
              <a:gd fmla="val 17241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58368" y="2756916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877824" y="2606040"/>
            <a:ext cx="7635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Catálogo </a:t>
            </a:r>
            <a:r>
              <a:rPr lang="en-US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ausente</a:t>
            </a: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3209544"/>
            <a:ext cx="8229600" cy="530352"/>
          </a:xfrm>
          <a:prstGeom prst="roundRect">
            <a:avLst>
              <a:gd fmla="val 17241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58368" y="3415284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877824" y="3264408"/>
            <a:ext cx="7635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Necesidad de reforzar la identidad de marca.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3867912"/>
            <a:ext cx="8229600" cy="530352"/>
          </a:xfrm>
          <a:prstGeom prst="roundRect">
            <a:avLst>
              <a:gd fmla="val 17241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58368" y="4073652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877824" y="3922776"/>
            <a:ext cx="7635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Necesidad de centralizar la comunicación con clientes.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Objetivo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57200" y="1051560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que permita: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1444752"/>
            <a:ext cx="8229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66928" y="1572768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66928" y="15727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78992" y="1536192"/>
            <a:ext cx="7406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Representar la identidad visual de Makisá.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2267712"/>
            <a:ext cx="8229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66928" y="2395728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66928" y="239572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078992" y="2359152"/>
            <a:ext cx="7406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Mostrar un catálogo organizado de productos.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3090672"/>
            <a:ext cx="8229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66928" y="3218688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66928" y="321868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78992" y="3182112"/>
            <a:ext cx="7406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Facilitar el contacto con potenciales clientes.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3913632"/>
            <a:ext cx="8229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66928" y="4041648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66928" y="40416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78992" y="4005072"/>
            <a:ext cx="7406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Disponer de una base para futuras ampliaciones.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Construcción de la identidad visual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57200" y="1097280"/>
            <a:ext cx="3474720" cy="1920240"/>
          </a:xfrm>
          <a:prstGeom prst="roundRect">
            <a:avLst>
              <a:gd fmla="val 4762" name="adj"/>
            </a:avLst>
          </a:prstGeom>
          <a:solidFill>
            <a:srgbClr val="FFF0F0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66928" y="1207008"/>
            <a:ext cx="3255264" cy="329184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66928" y="1207008"/>
            <a:ext cx="32552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 inicial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58368" y="1627632"/>
            <a:ext cx="31455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Colores originales del logotipo.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58368" y="2103120"/>
            <a:ext cx="31455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✕  Resultado demasiado institucional.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005072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572000" y="1097280"/>
            <a:ext cx="4114800" cy="1920240"/>
          </a:xfrm>
          <a:prstGeom prst="roundRect">
            <a:avLst>
              <a:gd fmla="val 4762" name="adj"/>
            </a:avLst>
          </a:prstGeom>
          <a:solidFill>
            <a:srgbClr val="F0FFF4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681728" y="1207008"/>
            <a:ext cx="3895344" cy="329184"/>
          </a:xfrm>
          <a:prstGeom prst="roundRect">
            <a:avLst>
              <a:gd fmla="val 16667" name="adj"/>
            </a:avLst>
          </a:prstGeom>
          <a:solidFill>
            <a:srgbClr val="1B7A3A"/>
          </a:solidFill>
          <a:ln cap="flat" cmpd="sng" w="12700">
            <a:solidFill>
              <a:srgbClr val="1B7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681728" y="1207008"/>
            <a:ext cx="38953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Rediseño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736592" y="1627632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7A3A"/>
                </a:solidFill>
                <a:latin typeface="Calibri"/>
                <a:ea typeface="Calibri"/>
                <a:cs typeface="Calibri"/>
                <a:sym typeface="Calibri"/>
              </a:rPr>
              <a:t>✓  Inspiración botánica.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736592" y="2048256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7A3A"/>
                </a:solidFill>
                <a:latin typeface="Calibri"/>
                <a:ea typeface="Calibri"/>
                <a:cs typeface="Calibri"/>
                <a:sym typeface="Calibri"/>
              </a:rPr>
              <a:t>✓  Colores cálidos y orgánicos.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36592" y="2468880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7A3A"/>
                </a:solidFill>
                <a:latin typeface="Calibri"/>
                <a:ea typeface="Calibri"/>
                <a:cs typeface="Calibri"/>
                <a:sym typeface="Calibri"/>
              </a:rPr>
              <a:t>✓  Imagen más cercana y artesanal.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312724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Paleta final: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874520" y="3090672"/>
            <a:ext cx="1280160" cy="402336"/>
          </a:xfrm>
          <a:prstGeom prst="roundRect">
            <a:avLst>
              <a:gd fmla="val 15909" name="adj"/>
            </a:avLst>
          </a:prstGeom>
          <a:solidFill>
            <a:srgbClr val="7A004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874520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264408" y="3090672"/>
            <a:ext cx="1280160" cy="402336"/>
          </a:xfrm>
          <a:prstGeom prst="roundRect">
            <a:avLst>
              <a:gd fmla="val 15909" name="adj"/>
            </a:avLst>
          </a:prstGeom>
          <a:solidFill>
            <a:srgbClr val="D80A8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264408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Magenta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654296" y="3090672"/>
            <a:ext cx="1280160" cy="402336"/>
          </a:xfrm>
          <a:prstGeom prst="roundRect">
            <a:avLst>
              <a:gd fmla="val 15909" name="adj"/>
            </a:avLst>
          </a:prstGeom>
          <a:solidFill>
            <a:srgbClr val="F28A7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654296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Salmón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044184" y="3090672"/>
            <a:ext cx="1280160" cy="402336"/>
          </a:xfrm>
          <a:prstGeom prst="roundRect">
            <a:avLst>
              <a:gd fmla="val 15909" name="adj"/>
            </a:avLst>
          </a:prstGeom>
          <a:solidFill>
            <a:srgbClr val="F0C06E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044184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Melocotón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434072" y="3090672"/>
            <a:ext cx="1280160" cy="402336"/>
          </a:xfrm>
          <a:prstGeom prst="roundRect">
            <a:avLst>
              <a:gd fmla="val 15909" name="adj"/>
            </a:avLst>
          </a:prstGeom>
          <a:solidFill>
            <a:srgbClr val="FAF7F2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7434072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Crema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3630168"/>
            <a:ext cx="8229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Tipografías:  Cormorant Garamond  ·  Poppins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40690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1ECE3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640080" y="4142232"/>
            <a:ext cx="7863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▶  Demo: aspecto visual de la aplicación en el navegador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40080" y="445312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Página principal · Catálogo · Detalle de producto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Principios de diseño aplicados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57200" y="1143000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85216" y="1307592"/>
            <a:ext cx="566928" cy="566928"/>
          </a:xfrm>
          <a:prstGeom prst="ellipse">
            <a:avLst/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585216" y="1307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261872" y="1234440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Simplicidad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261872" y="1527048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Interfaz limpia, sin elementos innecesarios.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663440" y="1143000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791456" y="1307592"/>
            <a:ext cx="566928" cy="566928"/>
          </a:xfrm>
          <a:prstGeom prst="ellipse">
            <a:avLst/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791456" y="1307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68112" y="1234440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Consistencia visual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468112" y="1527048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Mismos colores, tipografías y espaciados en todas las páginas.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2221992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585216" y="2386584"/>
            <a:ext cx="566928" cy="566928"/>
          </a:xfrm>
          <a:prstGeom prst="ellipse">
            <a:avLst/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85216" y="238658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261872" y="2313432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Navegación intuitiva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261872" y="2606040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Menú visible y accesible desde cualquier sección.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663440" y="2221992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791456" y="2386584"/>
            <a:ext cx="566928" cy="566928"/>
          </a:xfrm>
          <a:prstGeom prst="ellipse">
            <a:avLst/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791456" y="238658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468112" y="2313432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Jerarquía visual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68112" y="2606040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Títulos, subtítulos y cuerpo claramente diferenciados.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3300984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585216" y="3465576"/>
            <a:ext cx="566928" cy="566928"/>
          </a:xfrm>
          <a:prstGeom prst="ellipse">
            <a:avLst/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85216" y="34655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261872" y="3392424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Diseño responsive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261872" y="3685032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Adaptación automática a móvil, tablet y escritorio.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663440" y="3300984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791456" y="3465576"/>
            <a:ext cx="566928" cy="566928"/>
          </a:xfrm>
          <a:prstGeom prst="ellipse">
            <a:avLst/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791456" y="34655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68112" y="3392424"/>
            <a:ext cx="3090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Experiencia de usuario (UX)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68112" y="3685032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Efectos hover, feedback visual y flujos claros.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Características de la interfaz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57200" y="1143000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585216" y="1307592"/>
            <a:ext cx="566928" cy="566928"/>
          </a:xfrm>
          <a:prstGeom prst="ellipse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85216" y="1307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261872" y="1307592"/>
            <a:ext cx="3090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Menú de navegación común en todas las páginas.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663440" y="1143000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791456" y="1307592"/>
            <a:ext cx="566928" cy="566928"/>
          </a:xfrm>
          <a:prstGeom prst="ellipse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4791456" y="1307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468112" y="1307592"/>
            <a:ext cx="3090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Footer compartido con información de contacto.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2221992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585216" y="2386584"/>
            <a:ext cx="566928" cy="566928"/>
          </a:xfrm>
          <a:prstGeom prst="ellipse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85216" y="238658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61872" y="2386584"/>
            <a:ext cx="3090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Diseño responsive adaptado a móvil y tablet.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663440" y="2221992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791456" y="2386584"/>
            <a:ext cx="566928" cy="566928"/>
          </a:xfrm>
          <a:prstGeom prst="ellipse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4791456" y="238658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68112" y="2386584"/>
            <a:ext cx="3090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Efectos hover e interacciones visuales.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7200" y="3300984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85216" y="3465576"/>
            <a:ext cx="566928" cy="566928"/>
          </a:xfrm>
          <a:prstGeom prst="ellipse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85216" y="34655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261872" y="3465576"/>
            <a:ext cx="3090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Navegación sencilla y coherente.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663440" y="3300984"/>
            <a:ext cx="4023360" cy="896112"/>
          </a:xfrm>
          <a:prstGeom prst="roundRect">
            <a:avLst>
              <a:gd fmla="val 1020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4791456" y="3465576"/>
            <a:ext cx="566928" cy="566928"/>
          </a:xfrm>
          <a:prstGeom prst="ellipse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791456" y="34655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468112" y="3465576"/>
            <a:ext cx="30906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Identidad gráfica unificada en toda la aplicación.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141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Arquitectura de la aplicación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457200" y="10424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Arquitectura cliente-servidor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920240" y="1417320"/>
            <a:ext cx="5303520" cy="658368"/>
          </a:xfrm>
          <a:prstGeom prst="roundRect">
            <a:avLst>
              <a:gd fmla="val 11111" name="adj"/>
            </a:avLst>
          </a:prstGeom>
          <a:solidFill>
            <a:srgbClr val="7A004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1920240" y="1453896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920240" y="176479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Navegador web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251960" y="207568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920240" y="2240280"/>
            <a:ext cx="5303520" cy="658368"/>
          </a:xfrm>
          <a:prstGeom prst="roundRect">
            <a:avLst>
              <a:gd fmla="val 11111" name="adj"/>
            </a:avLst>
          </a:prstGeom>
          <a:solidFill>
            <a:srgbClr val="9B1B5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1920240" y="2276856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920240" y="258775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HTML5  ·  CSS3  ·  JavaScript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251960" y="289864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920240" y="3063240"/>
            <a:ext cx="5303520" cy="658368"/>
          </a:xfrm>
          <a:prstGeom prst="roundRect">
            <a:avLst>
              <a:gd fmla="val 11111" name="adj"/>
            </a:avLst>
          </a:prstGeom>
          <a:solidFill>
            <a:srgbClr val="D80A8C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920240" y="3099816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 + EXPRESS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920240" y="341071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Servidor  ·  API REST  ·  Middleware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251960" y="372160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920240" y="3886200"/>
            <a:ext cx="5303520" cy="658368"/>
          </a:xfrm>
          <a:prstGeom prst="roundRect">
            <a:avLst>
              <a:gd fmla="val 11111" name="adj"/>
            </a:avLst>
          </a:prstGeom>
          <a:solidFill>
            <a:srgbClr val="5C0035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1920240" y="3922776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920240" y="42336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Base de datos relacional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Tecnologías utilizadas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57200" y="1143000"/>
            <a:ext cx="2011680" cy="384048"/>
          </a:xfrm>
          <a:prstGeom prst="roundRect">
            <a:avLst>
              <a:gd fmla="val 16667" name="adj"/>
            </a:avLst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457200" y="11430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57200" y="1627632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457200" y="162763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57200" y="2231136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457200" y="2231136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CSS3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57200" y="2834640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457200" y="28346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2633472" y="1143000"/>
            <a:ext cx="2011680" cy="384048"/>
          </a:xfrm>
          <a:prstGeom prst="roundRect">
            <a:avLst>
              <a:gd fmla="val 16667" name="adj"/>
            </a:avLst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2633472" y="11430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633472" y="1627632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2633472" y="162763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0A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0A8C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2633472" y="2231136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2633472" y="2231136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0A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0A8C"/>
                </a:solidFill>
                <a:latin typeface="Calibri"/>
                <a:ea typeface="Calibri"/>
                <a:cs typeface="Calibri"/>
                <a:sym typeface="Calibri"/>
              </a:rPr>
              <a:t>Express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809744" y="1143000"/>
            <a:ext cx="2011680" cy="384048"/>
          </a:xfrm>
          <a:prstGeom prst="roundRect">
            <a:avLst>
              <a:gd fmla="val 16667" name="adj"/>
            </a:avLst>
          </a:prstGeom>
          <a:solidFill>
            <a:srgbClr val="9B1B5A"/>
          </a:solidFill>
          <a:ln cap="flat" cmpd="sng" w="12700">
            <a:solidFill>
              <a:srgbClr val="9B1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809744" y="11430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809744" y="1627632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809744" y="162763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1B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B1B5A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986016" y="1143000"/>
            <a:ext cx="2011680" cy="384048"/>
          </a:xfrm>
          <a:prstGeom prst="roundRect">
            <a:avLst>
              <a:gd fmla="val 16667" name="adj"/>
            </a:avLst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6986016" y="11430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986016" y="1627632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986016" y="162763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986016" y="2231136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6986016" y="2231136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986016" y="2834640"/>
            <a:ext cx="2011680" cy="50292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986016" y="28346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Netlify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Organización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57200" y="1115568"/>
            <a:ext cx="3840480" cy="3767328"/>
          </a:xfrm>
          <a:prstGeom prst="roundRect">
            <a:avLst>
              <a:gd fmla="val 2427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594360" y="12070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Estructura de archivos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94360" y="1517904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makisa/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795528" y="1778508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F141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index.html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795528" y="2039112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F141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catalogo.html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795528" y="2299716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F141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producto.html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95528" y="2560320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F141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contacto.html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795528" y="2820924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F1410"/>
                </a:solidFill>
                <a:latin typeface="Courier New"/>
                <a:ea typeface="Courier New"/>
                <a:cs typeface="Courier New"/>
                <a:sym typeface="Courier New"/>
              </a:rPr>
              <a:t>├── CSS/style.css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795528" y="3081528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js/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996696" y="3342132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F141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catalogo.js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996696" y="3602736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F1410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productos.js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996696" y="3863340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F1410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contacto.js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795528" y="4123944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├── img/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795528" y="4384548"/>
            <a:ext cx="347472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0A8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D80A8C"/>
                </a:solidFill>
                <a:latin typeface="Courier New"/>
                <a:ea typeface="Courier New"/>
                <a:cs typeface="Courier New"/>
                <a:sym typeface="Courier New"/>
              </a:rPr>
              <a:t>└── server.js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480560" y="1115568"/>
            <a:ext cx="4206240" cy="3767328"/>
          </a:xfrm>
          <a:prstGeom prst="roundRect">
            <a:avLst>
              <a:gd fmla="val 2427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617720" y="12070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Archivos principales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617720" y="1517904"/>
            <a:ext cx="3931920" cy="347472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4663440" y="1517904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server.js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6035040" y="1517904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Servidor backend Node.js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617720" y="1911096"/>
            <a:ext cx="3931920" cy="347472"/>
          </a:xfrm>
          <a:prstGeom prst="roundRect">
            <a:avLst>
              <a:gd fmla="val 10526" name="adj"/>
            </a:avLst>
          </a:prstGeom>
          <a:solidFill>
            <a:srgbClr val="F1ECE3"/>
          </a:solidFill>
          <a:ln cap="flat" cmpd="sng" w="12700">
            <a:solidFill>
              <a:srgbClr val="F1E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663440" y="1911096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catalogo.js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035040" y="191109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Filtrado dinámico del catálogo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617720" y="2304288"/>
            <a:ext cx="3931920" cy="347472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4663440" y="230428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productos.js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035040" y="230428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Carga dinámica de productos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4617720" y="2697480"/>
            <a:ext cx="3931920" cy="347472"/>
          </a:xfrm>
          <a:prstGeom prst="roundRect">
            <a:avLst>
              <a:gd fmla="val 10526" name="adj"/>
            </a:avLst>
          </a:prstGeom>
          <a:solidFill>
            <a:srgbClr val="F1ECE3"/>
          </a:solidFill>
          <a:ln cap="flat" cmpd="sng" w="12700">
            <a:solidFill>
              <a:srgbClr val="F1E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4663440" y="269748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contacto.js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035040" y="26974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Gestión del formulario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4617720" y="3090672"/>
            <a:ext cx="3931920" cy="347472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663440" y="3090672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style.css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035040" y="3090672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Estilos de toda la aplicación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617720" y="3483864"/>
            <a:ext cx="3931920" cy="347472"/>
          </a:xfrm>
          <a:prstGeom prst="roundRect">
            <a:avLst>
              <a:gd fmla="val 10526" name="adj"/>
            </a:avLst>
          </a:prstGeom>
          <a:solidFill>
            <a:srgbClr val="F1ECE3"/>
          </a:solidFill>
          <a:ln cap="flat" cmpd="sng" w="12700">
            <a:solidFill>
              <a:srgbClr val="F1E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663440" y="3483864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catalogo.html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035040" y="3483864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Catálogo de productos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617720" y="3877056"/>
            <a:ext cx="3931920" cy="347472"/>
          </a:xfrm>
          <a:prstGeom prst="roundRect">
            <a:avLst>
              <a:gd fmla="val 10526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663440" y="3877056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producto.html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035040" y="38770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Detalle de producto (único)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617720" y="4270248"/>
            <a:ext cx="3931920" cy="347472"/>
          </a:xfrm>
          <a:prstGeom prst="roundRect">
            <a:avLst>
              <a:gd fmla="val 10526" name="adj"/>
            </a:avLst>
          </a:prstGeom>
          <a:solidFill>
            <a:srgbClr val="F1ECE3"/>
          </a:solidFill>
          <a:ln cap="flat" cmpd="sng" w="12700">
            <a:solidFill>
              <a:srgbClr val="F1E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663440" y="427024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7A004A"/>
                </a:solidFill>
                <a:latin typeface="Courier New"/>
                <a:ea typeface="Courier New"/>
                <a:cs typeface="Courier New"/>
                <a:sym typeface="Courier New"/>
              </a:rPr>
              <a:t>contacto.html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6035040" y="427024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Formulario de contacto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Catálogo dinámico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457200" y="1115568"/>
            <a:ext cx="3657600" cy="1508760"/>
          </a:xfrm>
          <a:prstGeom prst="roundRect">
            <a:avLst>
              <a:gd fmla="val 6061" name="adj"/>
            </a:avLst>
          </a:prstGeom>
          <a:solidFill>
            <a:srgbClr val="FFF0F0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566928" y="1225296"/>
            <a:ext cx="3438144" cy="292608"/>
          </a:xfrm>
          <a:prstGeom prst="roundRect">
            <a:avLst>
              <a:gd fmla="val 1562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566928" y="1225296"/>
            <a:ext cx="34381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Solución descartada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58368" y="1554480"/>
            <a:ext cx="3255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Una página HTML independiente por cada producto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187952" y="155448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663440" y="1115568"/>
            <a:ext cx="4023360" cy="1508760"/>
          </a:xfrm>
          <a:prstGeom prst="roundRect">
            <a:avLst>
              <a:gd fmla="val 6061" name="adj"/>
            </a:avLst>
          </a:prstGeom>
          <a:solidFill>
            <a:srgbClr val="F0FFF4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773168" y="1225296"/>
            <a:ext cx="3803904" cy="292608"/>
          </a:xfrm>
          <a:prstGeom prst="roundRect">
            <a:avLst>
              <a:gd fmla="val 15625" name="adj"/>
            </a:avLst>
          </a:prstGeom>
          <a:solidFill>
            <a:srgbClr val="1B7A3A"/>
          </a:solidFill>
          <a:ln cap="flat" cmpd="sng" w="12700">
            <a:solidFill>
              <a:srgbClr val="1B7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4773168" y="1225296"/>
            <a:ext cx="3803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Solución implementada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846320" y="155448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A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7A3A"/>
                </a:solidFill>
                <a:latin typeface="Calibri"/>
                <a:ea typeface="Calibri"/>
                <a:cs typeface="Calibri"/>
                <a:sym typeface="Calibri"/>
              </a:rPr>
              <a:t>Un único producto.html con carga dinámica via URL (?id=)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30352" y="2926080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749808" y="2816352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Información de productos almacenada en JavaScript.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30352" y="3474720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749808" y="3364992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Carga dinámica mediante parámetros en la URL.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30352" y="4023360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749808" y="3913632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Una única página para todos los productos.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30352" y="4572000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749808" y="4462272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Mayor mantenibilidad y escalabilidad.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Sistema de filtrado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384048" y="1170432"/>
            <a:ext cx="1554480" cy="1207008"/>
          </a:xfrm>
          <a:prstGeom prst="roundRect">
            <a:avLst>
              <a:gd fmla="val 7576" name="adj"/>
            </a:avLst>
          </a:prstGeom>
          <a:solidFill>
            <a:srgbClr val="7A004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384048" y="1170432"/>
            <a:ext cx="155448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seleccionado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938528" y="1536192"/>
            <a:ext cx="182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2121408" y="1170432"/>
            <a:ext cx="1554480" cy="1207008"/>
          </a:xfrm>
          <a:prstGeom prst="roundRect">
            <a:avLst>
              <a:gd fmla="val 7576" name="adj"/>
            </a:avLst>
          </a:prstGeom>
          <a:solidFill>
            <a:srgbClr val="9B1B5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2121408" y="1170432"/>
            <a:ext cx="155448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data-filtro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3675888" y="1536192"/>
            <a:ext cx="182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3858768" y="1170432"/>
            <a:ext cx="1554480" cy="1207008"/>
          </a:xfrm>
          <a:prstGeom prst="roundRect">
            <a:avLst>
              <a:gd fmla="val 7576" name="adj"/>
            </a:avLst>
          </a:prstGeom>
          <a:solidFill>
            <a:srgbClr val="D80A8C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3858768" y="1170432"/>
            <a:ext cx="155448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(evento click)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413248" y="1536192"/>
            <a:ext cx="182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596128" y="1170432"/>
            <a:ext cx="1554480" cy="1207008"/>
          </a:xfrm>
          <a:prstGeom prst="roundRect">
            <a:avLst>
              <a:gd fmla="val 7576" name="adj"/>
            </a:avLst>
          </a:prstGeom>
          <a:solidFill>
            <a:srgbClr val="9B1B5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5596128" y="1170432"/>
            <a:ext cx="155448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data-categoria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7150608" y="1536192"/>
            <a:ext cx="182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7333488" y="1170432"/>
            <a:ext cx="1554480" cy="1207008"/>
          </a:xfrm>
          <a:prstGeom prst="roundRect">
            <a:avLst>
              <a:gd fmla="val 7576" name="adj"/>
            </a:avLst>
          </a:prstGeom>
          <a:solidFill>
            <a:srgbClr val="1B7A3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7333488" y="1170432"/>
            <a:ext cx="155448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Mostrar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Ocultar productos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57200" y="2633472"/>
            <a:ext cx="8229600" cy="493776"/>
          </a:xfrm>
          <a:prstGeom prst="roundRect">
            <a:avLst>
              <a:gd fmla="val 1851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658368" y="2816352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877824" y="2679192"/>
            <a:ext cx="7635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Filtrado dinámico por categoría.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57200" y="3255264"/>
            <a:ext cx="8229600" cy="493776"/>
          </a:xfrm>
          <a:prstGeom prst="roundRect">
            <a:avLst>
              <a:gd fmla="val 1851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658368" y="3438144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877824" y="3300984"/>
            <a:ext cx="7635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Sin recarga de página.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57200" y="3877056"/>
            <a:ext cx="8229600" cy="493776"/>
          </a:xfrm>
          <a:prstGeom prst="roundRect">
            <a:avLst>
              <a:gd fmla="val 1851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658368" y="4059936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877824" y="3922776"/>
            <a:ext cx="76352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Mejora de la experiencia de usuario.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457200" y="29260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Página de producto dinámica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7200" y="987552"/>
            <a:ext cx="8229600" cy="27300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384048" y="1170432"/>
            <a:ext cx="1554600" cy="1206900"/>
          </a:xfrm>
          <a:prstGeom prst="roundRect">
            <a:avLst>
              <a:gd fmla="val 7576" name="adj"/>
            </a:avLst>
          </a:prstGeom>
          <a:solidFill>
            <a:srgbClr val="7A004A"/>
          </a:solidFill>
          <a:ln cap="flat" cmpd="sng" w="12700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384048" y="1170432"/>
            <a:ext cx="15546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Catálogo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938528" y="1536192"/>
            <a:ext cx="183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2121408" y="1170432"/>
            <a:ext cx="1554600" cy="1206900"/>
          </a:xfrm>
          <a:prstGeom prst="roundRect">
            <a:avLst>
              <a:gd fmla="val 7576" name="adj"/>
            </a:avLst>
          </a:prstGeom>
          <a:solidFill>
            <a:srgbClr val="9B1B5A"/>
          </a:solidFill>
          <a:ln cap="flat" cmpd="sng" w="12700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2121408" y="1170432"/>
            <a:ext cx="15546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producto.html?id=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3675888" y="1536192"/>
            <a:ext cx="183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3858768" y="1170432"/>
            <a:ext cx="1554600" cy="1206900"/>
          </a:xfrm>
          <a:prstGeom prst="roundRect">
            <a:avLst>
              <a:gd fmla="val 7576" name="adj"/>
            </a:avLst>
          </a:prstGeom>
          <a:solidFill>
            <a:srgbClr val="D80A8C"/>
          </a:solidFill>
          <a:ln cap="flat" cmpd="sng" w="12700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3858768" y="1170432"/>
            <a:ext cx="15546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obtiene el 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5413248" y="1536192"/>
            <a:ext cx="183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596128" y="1170432"/>
            <a:ext cx="1554600" cy="1206900"/>
          </a:xfrm>
          <a:prstGeom prst="roundRect">
            <a:avLst>
              <a:gd fmla="val 7576" name="adj"/>
            </a:avLst>
          </a:prstGeom>
          <a:solidFill>
            <a:srgbClr val="9B1B5A"/>
          </a:solidFill>
          <a:ln cap="flat" cmpd="sng" w="12700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5596128" y="1170432"/>
            <a:ext cx="15546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 el producto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7150608" y="1536192"/>
            <a:ext cx="183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7333488" y="1170432"/>
            <a:ext cx="1554600" cy="1206900"/>
          </a:xfrm>
          <a:prstGeom prst="roundRect">
            <a:avLst>
              <a:gd fmla="val 7576" name="adj"/>
            </a:avLst>
          </a:prstGeom>
          <a:solidFill>
            <a:srgbClr val="1B7A3A"/>
          </a:solidFill>
          <a:ln cap="flat" cmpd="sng" w="12700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7333488" y="1170432"/>
            <a:ext cx="15546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Carga la información en la página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57200" y="2633472"/>
            <a:ext cx="8229600" cy="493800"/>
          </a:xfrm>
          <a:prstGeom prst="roundRect">
            <a:avLst>
              <a:gd fmla="val 1851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658368" y="2816352"/>
            <a:ext cx="118800" cy="118800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877824" y="2679192"/>
            <a:ext cx="763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Única página para todos los productos.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457200" y="3255264"/>
            <a:ext cx="8229600" cy="493800"/>
          </a:xfrm>
          <a:prstGeom prst="roundRect">
            <a:avLst>
              <a:gd fmla="val 1851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658368" y="3438144"/>
            <a:ext cx="118800" cy="118800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877824" y="3300984"/>
            <a:ext cx="763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Fácil mantenimiento</a:t>
            </a: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57200" y="3877056"/>
            <a:ext cx="8229600" cy="493800"/>
          </a:xfrm>
          <a:prstGeom prst="roundRect">
            <a:avLst>
              <a:gd fmla="val 18519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658368" y="4059936"/>
            <a:ext cx="118800" cy="118800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877824" y="3922776"/>
            <a:ext cx="7635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Mayor escalabilidad</a:t>
            </a: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Formulario de contacto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1463040" y="1115568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7A004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1463040" y="1115568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1463040" y="138988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HTML5 · Validación nativa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3291840" y="166420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1463040" y="1792224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9B1B5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463040" y="179222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Fetch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1463040" y="206654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Petición POST asíncrona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3291840" y="234086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1463040" y="2468880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D80A8C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1463040" y="246888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 /contacto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1463040" y="274320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Endpoint Express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291840" y="3017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1463040" y="3145536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C0116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1463040" y="3145536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Express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1463040" y="341985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Recepción · Validación · Respuesta 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3291840" y="369417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1463040" y="3822192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5C0035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1463040" y="38221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1463040" y="409651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D0E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0D0E8"/>
                </a:solidFill>
                <a:latin typeface="Calibri"/>
                <a:ea typeface="Calibri"/>
                <a:cs typeface="Calibri"/>
                <a:sym typeface="Calibri"/>
              </a:rPr>
              <a:t>INSERT INTO contactos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6035040" y="1316736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6263640" y="1207008"/>
            <a:ext cx="2606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Recepción de consultas de clientes.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6035040" y="2121408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6263640" y="2011680"/>
            <a:ext cx="2606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Almacenamiento persistente en base de datos.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6035040" y="2926080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6263640" y="2816352"/>
            <a:ext cx="2606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Comunicación cliente-servidor asíncrona.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6035040" y="3730752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6263640" y="3621024"/>
            <a:ext cx="2606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Protección con consultas SQL parametrizadas.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Despliegue y herramientas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457200" y="1170432"/>
            <a:ext cx="1965960" cy="1417320"/>
          </a:xfrm>
          <a:prstGeom prst="roundRect">
            <a:avLst>
              <a:gd fmla="val 6452" name="adj"/>
            </a:avLst>
          </a:prstGeom>
          <a:solidFill>
            <a:srgbClr val="1F1410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457200" y="1234440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⎇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457200" y="1709928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457200" y="20116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2423160" y="1627632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2651760" y="1170432"/>
            <a:ext cx="1965960" cy="1417320"/>
          </a:xfrm>
          <a:prstGeom prst="roundRect">
            <a:avLst>
              <a:gd fmla="val 6452" name="adj"/>
            </a:avLst>
          </a:prstGeom>
          <a:solidFill>
            <a:srgbClr val="24292E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2651760" y="1234440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◎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2651760" y="1709928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2651760" y="20116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Repositorio remoto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4617720" y="1627632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4846320" y="1170432"/>
            <a:ext cx="1965960" cy="1417320"/>
          </a:xfrm>
          <a:prstGeom prst="roundRect">
            <a:avLst>
              <a:gd fmla="val 6452" name="adj"/>
            </a:avLst>
          </a:prstGeom>
          <a:solidFill>
            <a:srgbClr val="00AD9F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4846320" y="1234440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4846320" y="1709928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Netlify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846320" y="20116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Build automático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6812280" y="1627632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8A7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8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7040880" y="1170432"/>
            <a:ext cx="1965960" cy="1417320"/>
          </a:xfrm>
          <a:prstGeom prst="roundRect">
            <a:avLst>
              <a:gd fmla="val 6452" name="adj"/>
            </a:avLst>
          </a:prstGeom>
          <a:solidFill>
            <a:srgbClr val="7A004A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7040880" y="1234440"/>
            <a:ext cx="1965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7040880" y="1709928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Publicada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7040880" y="201168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makisa.netlify.app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530352" y="2935224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749808" y="2798064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Control de versiones con historial completo del desarrollo.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530352" y="3575304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749808" y="3438144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Despliegue automático en cada git push (CI/CD).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530352" y="4215384"/>
            <a:ext cx="118872" cy="118872"/>
          </a:xfrm>
          <a:prstGeom prst="ellipse">
            <a:avLst/>
          </a:prstGeom>
          <a:solidFill>
            <a:srgbClr val="D80A8C"/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749808" y="4078224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Publicación en Internet accesible desde cualquier dispositivo.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2286000" y="4663440"/>
            <a:ext cx="4572000" cy="329184"/>
          </a:xfrm>
          <a:prstGeom prst="roundRect">
            <a:avLst>
              <a:gd fmla="val 19444" name="adj"/>
            </a:avLst>
          </a:prstGeom>
          <a:solidFill>
            <a:srgbClr val="7A004A"/>
          </a:solidFill>
          <a:ln cap="flat" cmpd="sng" w="12700">
            <a:solidFill>
              <a:srgbClr val="7A0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6"/>
          <p:cNvSpPr/>
          <p:nvPr/>
        </p:nvSpPr>
        <p:spPr>
          <a:xfrm>
            <a:off x="2286000" y="4663440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makisa.netlify.app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7A004A"/>
                </a:solidFill>
                <a:latin typeface="Cambria"/>
                <a:ea typeface="Cambria"/>
                <a:cs typeface="Cambria"/>
                <a:sym typeface="Cambria"/>
              </a:rPr>
              <a:t>Mejoras futuras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7"/>
          <p:cNvSpPr/>
          <p:nvPr/>
        </p:nvSpPr>
        <p:spPr>
          <a:xfrm>
            <a:off x="457200" y="1143000"/>
            <a:ext cx="402336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7"/>
          <p:cNvSpPr/>
          <p:nvPr/>
        </p:nvSpPr>
        <p:spPr>
          <a:xfrm>
            <a:off x="585216" y="1325880"/>
            <a:ext cx="566928" cy="566928"/>
          </a:xfrm>
          <a:prstGeom prst="ellipse">
            <a:avLst/>
          </a:prstGeom>
          <a:solidFill>
            <a:srgbClr val="F0C06E"/>
          </a:solidFill>
          <a:ln cap="flat" cmpd="sng" w="12700">
            <a:solidFill>
              <a:srgbClr val="F0C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585216" y="13258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1261872" y="1234440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1261872" y="1545336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Gestión interna de la aplicación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4663440" y="1143000"/>
            <a:ext cx="402336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4791456" y="1325880"/>
            <a:ext cx="566928" cy="566928"/>
          </a:xfrm>
          <a:prstGeom prst="ellipse">
            <a:avLst/>
          </a:prstGeom>
          <a:solidFill>
            <a:srgbClr val="F0C06E"/>
          </a:solidFill>
          <a:ln cap="flat" cmpd="sng" w="12700">
            <a:solidFill>
              <a:srgbClr val="F0C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7"/>
          <p:cNvSpPr/>
          <p:nvPr/>
        </p:nvSpPr>
        <p:spPr>
          <a:xfrm>
            <a:off x="4791456" y="13258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5468112" y="1234440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Gestión de productos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5468112" y="1545336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Catálogo dinámico desde base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457200" y="2258568"/>
            <a:ext cx="402336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7"/>
          <p:cNvSpPr/>
          <p:nvPr/>
        </p:nvSpPr>
        <p:spPr>
          <a:xfrm>
            <a:off x="585216" y="2441448"/>
            <a:ext cx="566928" cy="566928"/>
          </a:xfrm>
          <a:prstGeom prst="ellipse">
            <a:avLst/>
          </a:prstGeom>
          <a:solidFill>
            <a:srgbClr val="F0C06E"/>
          </a:solidFill>
          <a:ln cap="flat" cmpd="sng" w="12700">
            <a:solidFill>
              <a:srgbClr val="F0C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585216" y="24414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1261872" y="2350008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Sistema de pedidos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/>
          <p:nvPr/>
        </p:nvSpPr>
        <p:spPr>
          <a:xfrm>
            <a:off x="1261872" y="2660904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Flujo completo de compra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4663440" y="2258568"/>
            <a:ext cx="402336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4791456" y="2441448"/>
            <a:ext cx="566928" cy="566928"/>
          </a:xfrm>
          <a:prstGeom prst="ellipse">
            <a:avLst/>
          </a:prstGeom>
          <a:solidFill>
            <a:srgbClr val="F0C06E"/>
          </a:solidFill>
          <a:ln cap="flat" cmpd="sng" w="12700">
            <a:solidFill>
              <a:srgbClr val="F0C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4791456" y="244144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/>
          <p:nvPr/>
        </p:nvSpPr>
        <p:spPr>
          <a:xfrm>
            <a:off x="5468112" y="2350008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Carrito de compra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5468112" y="2660904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Selección y gestión de artículos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457200" y="3374136"/>
            <a:ext cx="402336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585216" y="3557016"/>
            <a:ext cx="566928" cy="566928"/>
          </a:xfrm>
          <a:prstGeom prst="ellipse">
            <a:avLst/>
          </a:prstGeom>
          <a:solidFill>
            <a:srgbClr val="F0C06E"/>
          </a:solidFill>
          <a:ln cap="flat" cmpd="sng" w="12700">
            <a:solidFill>
              <a:srgbClr val="F0C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585216" y="35570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1261872" y="3465576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Pasarela de pago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1261872" y="3776472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Integración con Stripe o similar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4663440" y="3374136"/>
            <a:ext cx="4023360" cy="960120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DD5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4791456" y="3557016"/>
            <a:ext cx="566928" cy="566928"/>
          </a:xfrm>
          <a:prstGeom prst="ellipse">
            <a:avLst/>
          </a:prstGeom>
          <a:solidFill>
            <a:srgbClr val="F0C06E"/>
          </a:solidFill>
          <a:ln cap="flat" cmpd="sng" w="12700">
            <a:solidFill>
              <a:srgbClr val="F0C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7"/>
          <p:cNvSpPr/>
          <p:nvPr/>
        </p:nvSpPr>
        <p:spPr>
          <a:xfrm>
            <a:off x="4791456" y="35570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41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141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5468112" y="3465576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00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04A"/>
                </a:solidFill>
                <a:latin typeface="Calibri"/>
                <a:ea typeface="Calibri"/>
                <a:cs typeface="Calibri"/>
                <a:sym typeface="Calibri"/>
              </a:rPr>
              <a:t>Gestión de usuarios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5468112" y="3776472"/>
            <a:ext cx="30906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Autenticación y perfiles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A004A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"/>
          <p:cNvSpPr/>
          <p:nvPr/>
        </p:nvSpPr>
        <p:spPr>
          <a:xfrm>
            <a:off x="6400800" y="2560320"/>
            <a:ext cx="4572000" cy="4572000"/>
          </a:xfrm>
          <a:prstGeom prst="ellipse">
            <a:avLst/>
          </a:prstGeom>
          <a:solidFill>
            <a:srgbClr val="8B0055">
              <a:alpha val="45100"/>
            </a:srgbClr>
          </a:solidFill>
          <a:ln cap="flat" cmpd="sng" w="12700">
            <a:solidFill>
              <a:srgbClr val="8B00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8"/>
          <p:cNvSpPr/>
          <p:nvPr/>
        </p:nvSpPr>
        <p:spPr>
          <a:xfrm>
            <a:off x="7498080" y="1645920"/>
            <a:ext cx="2743200" cy="2743200"/>
          </a:xfrm>
          <a:prstGeom prst="ellipse">
            <a:avLst/>
          </a:prstGeom>
          <a:solidFill>
            <a:srgbClr val="D80A8C">
              <a:alpha val="34900"/>
            </a:srgbClr>
          </a:solidFill>
          <a:ln cap="flat" cmpd="sng" w="12700">
            <a:solidFill>
              <a:srgbClr val="D80A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8"/>
          <p:cNvSpPr/>
          <p:nvPr/>
        </p:nvSpPr>
        <p:spPr>
          <a:xfrm>
            <a:off x="640080" y="6400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Makisá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640080" y="1600200"/>
            <a:ext cx="4114800" cy="36600"/>
          </a:xfrm>
          <a:prstGeom prst="rect">
            <a:avLst/>
          </a:prstGeom>
          <a:solidFill>
            <a:srgbClr val="F28A7A"/>
          </a:solidFill>
          <a:ln cap="flat" cmpd="sng" w="12700">
            <a:solidFill>
              <a:srgbClr val="F28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8"/>
          <p:cNvSpPr/>
          <p:nvPr/>
        </p:nvSpPr>
        <p:spPr>
          <a:xfrm>
            <a:off x="640080" y="17373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6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0C06E"/>
                </a:solidFill>
                <a:latin typeface="Calibri"/>
                <a:ea typeface="Calibri"/>
                <a:cs typeface="Calibri"/>
                <a:sym typeface="Calibri"/>
              </a:rPr>
              <a:t>Aplicación web corporativa para un emprendimiento artesanal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640080" y="3429000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makisa.netlify.app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640080" y="3977640"/>
            <a:ext cx="640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AACC"/>
                </a:solidFill>
                <a:latin typeface="Calibri"/>
                <a:ea typeface="Calibri"/>
                <a:cs typeface="Calibri"/>
                <a:sym typeface="Calibri"/>
              </a:rPr>
              <a:t>Alejandra Varona Gaviria  ·  TFG DAM 2025/2026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694805" y="2203695"/>
            <a:ext cx="640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Muchas gracias por su atenci</a:t>
            </a: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